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gif"/><Relationship Id="rId6" Type="http://schemas.openxmlformats.org/officeDocument/2006/relationships/image" Target="../media/image6.png"/><Relationship Id="rId7" Type="http://schemas.openxmlformats.org/officeDocument/2006/relationships/image" Target="../media/image7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1106424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700"/>
              </a:spcAft>
            </a:pPr>
            <a:r>
              <a:rPr sz="2500" b="1">
                <a:solidFill>
                  <a:srgbClr val="18312C"/>
                </a:solidFill>
                <a:latin typeface="Aptos Display"/>
              </a:rPr>
              <a:t>DawaLink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97280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700"/>
              </a:spcAft>
            </a:pPr>
            <a:r>
              <a:rPr sz="900" b="1">
                <a:solidFill>
                  <a:srgbClr val="477256"/>
                </a:solidFill>
                <a:latin typeface="Aptos"/>
              </a:rPr>
              <a:t>A REAL PHARMACY QUESTION, MADE EASIER · OCTOBER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D9D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6565392"/>
            <a:ext cx="1033272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4726D"/>
                </a:solidFill>
                <a:latin typeface="Aptos"/>
              </a:rPr>
              <a:t>DawaLink · local-only core · technical implementation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47104"/>
            <a:ext cx="54864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spcAft>
                <a:spcPts val="700"/>
              </a:spcAft>
            </a:pPr>
            <a:r>
              <a:rPr sz="800" b="0">
                <a:solidFill>
                  <a:srgbClr val="64726D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25880"/>
            <a:ext cx="6080760" cy="5943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700"/>
              </a:spcAft>
            </a:pPr>
            <a:r>
              <a:rPr sz="2300" b="1">
                <a:solidFill>
                  <a:srgbClr val="477256"/>
                </a:solidFill>
                <a:latin typeface="Aptos Display"/>
              </a:rPr>
              <a:t>“3afak wach kayn Doliprane 1g f Rabat?”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240280"/>
            <a:ext cx="5669280" cy="1463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700"/>
              </a:spcAft>
            </a:pPr>
            <a:r>
              <a:rPr sz="2000" b="0">
                <a:solidFill>
                  <a:srgbClr val="18312C"/>
                </a:solidFill>
                <a:latin typeface="Aptos"/>
              </a:rPr>
              <a:t>A customer wants a clear answer about one exact medicine pack. DawaLink helps them identify it and prepare a useful pharmacy question—in Darija, Arabic or French.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60920" y="1417320"/>
            <a:ext cx="4023360" cy="3474720"/>
          </a:xfrm>
          <a:prstGeom prst="roundRect">
            <a:avLst/>
          </a:prstGeom>
          <a:solidFill>
            <a:srgbClr val="D9F36D"/>
          </a:solidFill>
          <a:ln>
            <a:solidFill>
              <a:srgbClr val="D9D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91440" bIns="73152"/>
          <a:lstStyle/>
          <a:p>
            <a:pPr algn="ctr">
              <a:spcAft>
                <a:spcPts val="700"/>
              </a:spcAft>
            </a:pPr>
            <a:r>
              <a:rPr sz="1800" b="1">
                <a:solidFill>
                  <a:srgbClr val="18312C"/>
                </a:solidFill>
                <a:latin typeface="Aptos Display"/>
              </a:rPr>
              <a:t>The product promise</a:t>
            </a:r>
          </a:p>
          <a:p>
            <a:pPr>
              <a:spcAft>
                <a:spcPts val="0"/>
              </a:spcAft>
            </a:pPr>
            <a:r>
              <a:rPr sz="1700">
                <a:solidFill>
                  <a:srgbClr val="18312C"/>
                </a:solidFill>
                <a:latin typeface="Aptos"/>
              </a:rPr>
              <a:t>Understand the request</a:t>
            </a:r>
            <a:br/>
            <a:r>
              <a:rPr sz="1700">
                <a:solidFill>
                  <a:srgbClr val="18312C"/>
                </a:solidFill>
                <a:latin typeface="Aptos"/>
              </a:rPr>
              <a:t>Confirm the exact catalogue item</a:t>
            </a:r>
            <a:br/>
            <a:r>
              <a:rPr sz="1700">
                <a:solidFill>
                  <a:srgbClr val="18312C"/>
                </a:solidFill>
                <a:latin typeface="Aptos"/>
              </a:rPr>
              <a:t>Prepare an editable enquiry</a:t>
            </a:r>
            <a:br/>
            <a:br/>
            <a:r>
              <a:rPr sz="1700">
                <a:solidFill>
                  <a:srgbClr val="18312C"/>
                </a:solidFill>
                <a:latin typeface="Aptos"/>
              </a:rPr>
              <a:t>The pharmacy supplies the real stock answer.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5166360"/>
            <a:ext cx="10698480" cy="4572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64726D"/>
                </a:solidFill>
                <a:latin typeface="Aptos"/>
              </a:rPr>
              <a:t>Local-first · 9,908 imported catalogue rows · free/open-source runtime · no hosted AI or paid API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1106424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700"/>
              </a:spcAft>
            </a:pPr>
            <a:r>
              <a:rPr sz="2500" b="1">
                <a:solidFill>
                  <a:srgbClr val="18312C"/>
                </a:solidFill>
                <a:latin typeface="Aptos Display"/>
              </a:rPr>
              <a:t>User story · from uncertainty to a useful 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97280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700"/>
              </a:spcAft>
            </a:pPr>
            <a:r>
              <a:rPr sz="900" b="1">
                <a:solidFill>
                  <a:srgbClr val="477256"/>
                </a:solidFill>
                <a:latin typeface="Aptos"/>
              </a:rPr>
              <a:t>THE EXPERIENCE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D9D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6565392"/>
            <a:ext cx="1033272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4726D"/>
                </a:solidFill>
                <a:latin typeface="Aptos"/>
              </a:rPr>
              <a:t>DawaLink · local-only core · technical implementation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47104"/>
            <a:ext cx="54864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spcAft>
                <a:spcPts val="700"/>
              </a:spcAft>
            </a:pPr>
            <a:r>
              <a:rPr sz="800" b="0">
                <a:solidFill>
                  <a:srgbClr val="64726D"/>
                </a:solidFill>
                <a:latin typeface="Aptos"/>
              </a:rP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34440"/>
            <a:ext cx="10744200" cy="1024128"/>
          </a:xfrm>
          <a:prstGeom prst="roundRect">
            <a:avLst/>
          </a:prstGeom>
          <a:solidFill>
            <a:srgbClr val="EFF4E9"/>
          </a:solidFill>
          <a:ln>
            <a:solidFill>
              <a:srgbClr val="D9D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91440" bIns="73152"/>
          <a:lstStyle/>
          <a:p>
            <a:pPr algn="ctr">
              <a:spcAft>
                <a:spcPts val="700"/>
              </a:spcAft>
            </a:pPr>
            <a:r>
              <a:rPr sz="1800" b="1">
                <a:solidFill>
                  <a:srgbClr val="477256"/>
                </a:solidFill>
                <a:latin typeface="Aptos Display"/>
              </a:rPr>
              <a:t>Customer need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18312C"/>
                </a:solidFill>
                <a:latin typeface="Aptos"/>
              </a:rPr>
              <a:t>As a person looking for a medicine, I want to explain what I need in my own language, so I can identify the right catalogue item and ask a pharmacy clearly without guessing availability.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788920"/>
            <a:ext cx="324612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9D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91440" bIns="73152"/>
          <a:lstStyle/>
          <a:p>
            <a:pPr algn="ctr">
              <a:spcAft>
                <a:spcPts val="700"/>
              </a:spcAft>
            </a:pPr>
            <a:r>
              <a:rPr sz="1800" b="1">
                <a:solidFill>
                  <a:srgbClr val="477256"/>
                </a:solidFill>
                <a:latin typeface="Aptos Display"/>
              </a:rPr>
              <a:t>1 · Explain the need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18312C"/>
                </a:solidFill>
                <a:latin typeface="Aptos"/>
              </a:rPr>
              <a:t>“3afak wach kayn Doliprane 1g f Rabat?”</a:t>
            </a:r>
            <a:br/>
            <a:br/>
            <a:r>
              <a:rPr sz="1300">
                <a:solidFill>
                  <a:srgbClr val="18312C"/>
                </a:solidFill>
                <a:latin typeface="Aptos"/>
              </a:rPr>
              <a:t>The local model extracts intent, medicine, strength and city.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2788920"/>
            <a:ext cx="3246120" cy="1965960"/>
          </a:xfrm>
          <a:prstGeom prst="roundRect">
            <a:avLst/>
          </a:prstGeom>
          <a:solidFill>
            <a:srgbClr val="EFF4E9"/>
          </a:solidFill>
          <a:ln>
            <a:solidFill>
              <a:srgbClr val="D9D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91440" bIns="73152"/>
          <a:lstStyle/>
          <a:p>
            <a:pPr algn="ctr">
              <a:spcAft>
                <a:spcPts val="700"/>
              </a:spcAft>
            </a:pPr>
            <a:r>
              <a:rPr sz="1800" b="1">
                <a:solidFill>
                  <a:srgbClr val="477256"/>
                </a:solidFill>
                <a:latin typeface="Aptos Display"/>
              </a:rPr>
              <a:t>2 · Confirm the pack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18312C"/>
                </a:solidFill>
                <a:latin typeface="Aptos"/>
              </a:rPr>
              <a:t>DawaLink shows three real 1 G records. The customer compares form and package, then selects ID 563.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83879" y="2788920"/>
            <a:ext cx="3246120" cy="1965960"/>
          </a:xfrm>
          <a:prstGeom prst="roundRect">
            <a:avLst/>
          </a:prstGeom>
          <a:solidFill>
            <a:srgbClr val="D9F36D"/>
          </a:solidFill>
          <a:ln>
            <a:solidFill>
              <a:srgbClr val="D9D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91440" bIns="73152"/>
          <a:lstStyle/>
          <a:p>
            <a:pPr algn="ctr">
              <a:spcAft>
                <a:spcPts val="700"/>
              </a:spcAft>
            </a:pPr>
            <a:r>
              <a:rPr sz="1800" b="1">
                <a:solidFill>
                  <a:srgbClr val="18312C"/>
                </a:solidFill>
                <a:latin typeface="Aptos Display"/>
              </a:rPr>
              <a:t>3 · Prepare the question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18312C"/>
                </a:solidFill>
                <a:latin typeface="Aptos"/>
              </a:rPr>
              <a:t>Review the quantity, city and Darija wording. Copy it to contact a pharmacy.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931920" y="3767328"/>
            <a:ext cx="438912" cy="0"/>
          </a:xfrm>
          <a:prstGeom prst="line">
            <a:avLst/>
          </a:prstGeom>
          <a:ln w="27940">
            <a:solidFill>
              <a:srgbClr val="4772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80960" y="3767328"/>
            <a:ext cx="438912" cy="0"/>
          </a:xfrm>
          <a:prstGeom prst="line">
            <a:avLst/>
          </a:prstGeom>
          <a:ln w="27940">
            <a:solidFill>
              <a:srgbClr val="4772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22960" y="5349240"/>
            <a:ext cx="1051560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spcAft>
                <a:spcPts val="700"/>
              </a:spcAft>
            </a:pPr>
            <a:r>
              <a:rPr sz="1500" b="0">
                <a:solidFill>
                  <a:srgbClr val="18312C"/>
                </a:solidFill>
                <a:latin typeface="Aptos"/>
              </a:rPr>
              <a:t>Success means an exact, customer-confirmed product and a useful enquiry. The customer decides what to send; the pharmacy provides the actual stock answer.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1106424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700"/>
              </a:spcAft>
            </a:pPr>
            <a:r>
              <a:rPr sz="2500" b="1">
                <a:solidFill>
                  <a:srgbClr val="18312C"/>
                </a:solidFill>
                <a:latin typeface="Aptos Display"/>
              </a:rPr>
              <a:t>The customer stays in control at every step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97280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700"/>
              </a:spcAft>
            </a:pPr>
            <a:r>
              <a:rPr sz="900" b="1">
                <a:solidFill>
                  <a:srgbClr val="477256"/>
                </a:solidFill>
                <a:latin typeface="Aptos"/>
              </a:rPr>
              <a:t>OBSERVED LIVE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D9D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6565392"/>
            <a:ext cx="1033272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4726D"/>
                </a:solidFill>
                <a:latin typeface="Aptos"/>
              </a:rPr>
              <a:t>DawaLink · local-only core · technical implementation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47104"/>
            <a:ext cx="54864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spcAft>
                <a:spcPts val="700"/>
              </a:spcAft>
            </a:pPr>
            <a:r>
              <a:rPr sz="800" b="0">
                <a:solidFill>
                  <a:srgbClr val="64726D"/>
                </a:solidFill>
                <a:latin typeface="Aptos"/>
              </a:rPr>
              <a:t>03</a:t>
            </a:r>
          </a:p>
        </p:txBody>
      </p:sp>
      <p:pic>
        <p:nvPicPr>
          <p:cNvPr id="7" name="Picture 6" descr="DawaLink_presentation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051560"/>
            <a:ext cx="7589520" cy="515454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6236208"/>
            <a:ext cx="1042416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spcAft>
                <a:spcPts val="700"/>
              </a:spcAft>
            </a:pPr>
            <a:r>
              <a:rPr sz="1000" b="0">
                <a:solidFill>
                  <a:srgbClr val="64726D"/>
                </a:solidFill>
                <a:latin typeface="Aptos"/>
              </a:rPr>
              <a:t>Captured from the running app · selected ID 563 · customer copies the message; inventory is not verified.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1106424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700"/>
              </a:spcAft>
            </a:pPr>
            <a:r>
              <a:rPr sz="2500" b="1">
                <a:solidFill>
                  <a:srgbClr val="18312C"/>
                </a:solidFill>
                <a:latin typeface="Aptos Display"/>
              </a:rPr>
              <a:t>Technical architecture · local, grounded, inspectable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97280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700"/>
              </a:spcAft>
            </a:pPr>
            <a:r>
              <a:rPr sz="900" b="1">
                <a:solidFill>
                  <a:srgbClr val="477256"/>
                </a:solidFill>
                <a:latin typeface="Aptos"/>
              </a:rPr>
              <a:t>RUNTIME DESIGN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D9D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6565392"/>
            <a:ext cx="1033272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4726D"/>
                </a:solidFill>
                <a:latin typeface="Aptos"/>
              </a:rPr>
              <a:t>DawaLink · local-only core · technical implementation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47104"/>
            <a:ext cx="54864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spcAft>
                <a:spcPts val="700"/>
              </a:spcAft>
            </a:pPr>
            <a:r>
              <a:rPr sz="800" b="0">
                <a:solidFill>
                  <a:srgbClr val="64726D"/>
                </a:solidFill>
                <a:latin typeface="Aptos"/>
              </a:rP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80160"/>
            <a:ext cx="11155680" cy="4526280"/>
          </a:xfrm>
          <a:prstGeom prst="roundRect">
            <a:avLst/>
          </a:prstGeom>
          <a:solidFill>
            <a:srgbClr val="E8EFE6"/>
          </a:solidFill>
          <a:ln w="16510">
            <a:solidFill>
              <a:srgbClr val="4772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49808" y="1115568"/>
            <a:ext cx="2194560" cy="283464"/>
          </a:xfrm>
          <a:prstGeom prst="roundRect">
            <a:avLst/>
          </a:prstGeom>
          <a:solidFill>
            <a:srgbClr val="4772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3716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ONE DEVICE · LOCAL SERVICES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965960"/>
            <a:ext cx="1874519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9D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91440" bIns="73152"/>
          <a:lstStyle/>
          <a:p>
            <a:pPr algn="ctr">
              <a:spcAft>
                <a:spcPts val="700"/>
              </a:spcAft>
            </a:pPr>
            <a:r>
              <a:rPr sz="1800" b="1">
                <a:solidFill>
                  <a:srgbClr val="477256"/>
                </a:solidFill>
                <a:latin typeface="Aptos Display"/>
              </a:rPr>
              <a:t>Browser UI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18312C"/>
                </a:solidFill>
                <a:latin typeface="Aptos"/>
              </a:rPr>
              <a:t>HTML · CSS · JS</a:t>
            </a:r>
            <a:br/>
            <a:r>
              <a:rPr sz="1100">
                <a:solidFill>
                  <a:srgbClr val="18312C"/>
                </a:solidFill>
                <a:latin typeface="Aptos"/>
              </a:rPr>
              <a:t>text / photo / confirm</a:t>
            </a:r>
          </a:p>
        </p:txBody>
      </p:sp>
      <p:pic>
        <p:nvPicPr>
          <p:cNvPr id="10" name="Picture 9" descr="html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9032" y="1581912"/>
            <a:ext cx="256032" cy="256032"/>
          </a:xfrm>
          <a:prstGeom prst="rect">
            <a:avLst/>
          </a:prstGeom>
        </p:spPr>
      </p:pic>
      <p:pic>
        <p:nvPicPr>
          <p:cNvPr id="11" name="Picture 10" descr="javascri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9072" y="1581912"/>
            <a:ext cx="256032" cy="256032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3246120" y="1965960"/>
            <a:ext cx="19659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9D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91440" bIns="73152"/>
          <a:lstStyle/>
          <a:p>
            <a:pPr algn="ctr">
              <a:spcAft>
                <a:spcPts val="700"/>
              </a:spcAft>
            </a:pPr>
            <a:r>
              <a:rPr sz="1800" b="1">
                <a:solidFill>
                  <a:srgbClr val="477256"/>
                </a:solidFill>
                <a:latin typeface="Aptos Display"/>
              </a:rPr>
              <a:t>Python WSGI API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18312C"/>
                </a:solidFill>
                <a:latin typeface="Aptos"/>
              </a:rPr>
              <a:t>app.py · validation</a:t>
            </a:r>
            <a:br/>
            <a:r>
              <a:rPr sz="1100">
                <a:solidFill>
                  <a:srgbClr val="18312C"/>
                </a:solidFill>
                <a:latin typeface="Aptos"/>
              </a:rPr>
              <a:t>JSON + multipart</a:t>
            </a:r>
          </a:p>
        </p:txBody>
      </p:sp>
      <p:pic>
        <p:nvPicPr>
          <p:cNvPr id="13" name="Picture 12" descr="pyth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78224" y="1624584"/>
            <a:ext cx="256032" cy="170688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5897880" y="1965960"/>
            <a:ext cx="19659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9D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91440" bIns="73152"/>
          <a:lstStyle/>
          <a:p>
            <a:pPr algn="ctr">
              <a:spcAft>
                <a:spcPts val="700"/>
              </a:spcAft>
            </a:pPr>
            <a:r>
              <a:rPr sz="1800" b="1">
                <a:solidFill>
                  <a:srgbClr val="477256"/>
                </a:solidFill>
                <a:latin typeface="Aptos Display"/>
              </a:rPr>
              <a:t>DawaLink core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18312C"/>
                </a:solidFill>
                <a:latin typeface="Aptos"/>
              </a:rPr>
              <a:t>intent grounding</a:t>
            </a:r>
            <a:br/>
            <a:r>
              <a:rPr sz="1100">
                <a:solidFill>
                  <a:srgbClr val="18312C"/>
                </a:solidFill>
                <a:latin typeface="Aptos"/>
              </a:rPr>
              <a:t>search · request guard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89720" y="1965960"/>
            <a:ext cx="20116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9D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91440" bIns="73152"/>
          <a:lstStyle/>
          <a:p>
            <a:pPr algn="ctr">
              <a:spcAft>
                <a:spcPts val="700"/>
              </a:spcAft>
            </a:pPr>
            <a:r>
              <a:rPr sz="1800" b="1">
                <a:solidFill>
                  <a:srgbClr val="477256"/>
                </a:solidFill>
                <a:latin typeface="Aptos Display"/>
              </a:rPr>
              <a:t>SQLite · FTS5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18312C"/>
                </a:solidFill>
                <a:latin typeface="Aptos"/>
              </a:rPr>
              <a:t>9,908 records</a:t>
            </a:r>
            <a:br/>
            <a:r>
              <a:rPr sz="1100">
                <a:solidFill>
                  <a:srgbClr val="18312C"/>
                </a:solidFill>
                <a:latin typeface="Aptos"/>
              </a:rPr>
              <a:t>product facts only</a:t>
            </a:r>
          </a:p>
        </p:txBody>
      </p:sp>
      <p:pic>
        <p:nvPicPr>
          <p:cNvPr id="16" name="Picture 15" descr="sql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72306" y="1581912"/>
            <a:ext cx="637363" cy="292608"/>
          </a:xfrm>
          <a:prstGeom prst="rect">
            <a:avLst/>
          </a:prstGeom>
        </p:spPr>
      </p:pic>
      <p:cxnSp>
        <p:nvCxnSpPr>
          <p:cNvPr id="17" name="Connector 16"/>
          <p:cNvCxnSpPr/>
          <p:nvPr/>
        </p:nvCxnSpPr>
        <p:spPr>
          <a:xfrm>
            <a:off x="2651760" y="2560320"/>
            <a:ext cx="548640" cy="0"/>
          </a:xfrm>
          <a:prstGeom prst="line">
            <a:avLst/>
          </a:prstGeom>
          <a:ln w="27940">
            <a:solidFill>
              <a:srgbClr val="4772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5212080" y="2560320"/>
            <a:ext cx="640080" cy="0"/>
          </a:xfrm>
          <a:prstGeom prst="line">
            <a:avLst/>
          </a:prstGeom>
          <a:ln w="27940">
            <a:solidFill>
              <a:srgbClr val="4772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863840" y="2560320"/>
            <a:ext cx="1280160" cy="0"/>
          </a:xfrm>
          <a:prstGeom prst="line">
            <a:avLst/>
          </a:prstGeom>
          <a:ln w="27940">
            <a:solidFill>
              <a:srgbClr val="4772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7863840" y="2852928"/>
            <a:ext cx="1280160" cy="0"/>
          </a:xfrm>
          <a:prstGeom prst="line">
            <a:avLst/>
          </a:prstGeom>
          <a:ln w="27940">
            <a:solidFill>
              <a:srgbClr val="4772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2670048" y="2176272"/>
            <a:ext cx="512064" cy="283464"/>
          </a:xfrm>
          <a:prstGeom prst="roundRect">
            <a:avLst/>
          </a:prstGeom>
          <a:solidFill>
            <a:srgbClr val="1831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3716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HTTP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294376" y="2176272"/>
            <a:ext cx="493776" cy="283464"/>
          </a:xfrm>
          <a:prstGeom prst="roundRect">
            <a:avLst/>
          </a:prstGeom>
          <a:solidFill>
            <a:srgbClr val="1831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3716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JSON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74152" y="2176272"/>
            <a:ext cx="868680" cy="283464"/>
          </a:xfrm>
          <a:prstGeom prst="roundRect">
            <a:avLst/>
          </a:prstGeom>
          <a:solidFill>
            <a:srgbClr val="1831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3716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SQL search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577840" y="3977639"/>
            <a:ext cx="19202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9D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91440" bIns="73152"/>
          <a:lstStyle/>
          <a:p>
            <a:pPr algn="ctr">
              <a:spcAft>
                <a:spcPts val="700"/>
              </a:spcAft>
            </a:pPr>
            <a:r>
              <a:rPr sz="1800" b="1">
                <a:solidFill>
                  <a:srgbClr val="477256"/>
                </a:solidFill>
                <a:latin typeface="Aptos Display"/>
              </a:rPr>
              <a:t>Ollama runtime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18312C"/>
                </a:solidFill>
                <a:latin typeface="Aptos"/>
              </a:rPr>
              <a:t>127.0.0.1:11434</a:t>
            </a:r>
            <a:br/>
            <a:r>
              <a:rPr sz="1000">
                <a:solidFill>
                  <a:srgbClr val="18312C"/>
                </a:solidFill>
                <a:latin typeface="Aptos"/>
              </a:rPr>
              <a:t>local chat API</a:t>
            </a:r>
          </a:p>
        </p:txBody>
      </p:sp>
      <p:pic>
        <p:nvPicPr>
          <p:cNvPr id="25" name="Picture 24" descr="ollam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3640" y="3657600"/>
            <a:ext cx="274320" cy="274320"/>
          </a:xfrm>
          <a:prstGeom prst="rect">
            <a:avLst/>
          </a:prstGeom>
        </p:spPr>
      </p:pic>
      <p:sp>
        <p:nvSpPr>
          <p:cNvPr id="26" name="Rounded Rectangle 25"/>
          <p:cNvSpPr/>
          <p:nvPr/>
        </p:nvSpPr>
        <p:spPr>
          <a:xfrm>
            <a:off x="8092440" y="3977639"/>
            <a:ext cx="1828800" cy="1143000"/>
          </a:xfrm>
          <a:prstGeom prst="roundRect">
            <a:avLst/>
          </a:prstGeom>
          <a:solidFill>
            <a:srgbClr val="D9F36D"/>
          </a:solidFill>
          <a:ln>
            <a:solidFill>
              <a:srgbClr val="D9D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91440" bIns="73152"/>
          <a:lstStyle/>
          <a:p>
            <a:pPr algn="ctr">
              <a:spcAft>
                <a:spcPts val="700"/>
              </a:spcAft>
            </a:pPr>
            <a:r>
              <a:rPr sz="1800" b="1">
                <a:solidFill>
                  <a:srgbClr val="18312C"/>
                </a:solidFill>
                <a:latin typeface="Aptos Display"/>
              </a:rPr>
              <a:t>Qwen3 1.7B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18312C"/>
                </a:solidFill>
                <a:latin typeface="Aptos"/>
              </a:rPr>
              <a:t>schema-constrained</a:t>
            </a:r>
            <a:br/>
            <a:r>
              <a:rPr sz="1000">
                <a:solidFill>
                  <a:srgbClr val="18312C"/>
                </a:solidFill>
                <a:latin typeface="Aptos"/>
              </a:rPr>
              <a:t>request extraction</a:t>
            </a:r>
          </a:p>
        </p:txBody>
      </p:sp>
      <p:pic>
        <p:nvPicPr>
          <p:cNvPr id="27" name="Picture 26" descr="qwen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59302" y="3675887"/>
            <a:ext cx="729314" cy="219456"/>
          </a:xfrm>
          <a:prstGeom prst="rect">
            <a:avLst/>
          </a:prstGeom>
        </p:spPr>
      </p:pic>
      <p:cxnSp>
        <p:nvCxnSpPr>
          <p:cNvPr id="28" name="Connector 27"/>
          <p:cNvCxnSpPr/>
          <p:nvPr/>
        </p:nvCxnSpPr>
        <p:spPr>
          <a:xfrm flipH="1">
            <a:off x="6537960" y="3227832"/>
            <a:ext cx="320040" cy="704088"/>
          </a:xfrm>
          <a:prstGeom prst="line">
            <a:avLst/>
          </a:prstGeom>
          <a:ln w="27940">
            <a:solidFill>
              <a:srgbClr val="4772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7543800" y="4553712"/>
            <a:ext cx="502920" cy="0"/>
          </a:xfrm>
          <a:prstGeom prst="line">
            <a:avLst/>
          </a:prstGeom>
          <a:ln w="27940">
            <a:solidFill>
              <a:srgbClr val="4772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6629400" y="3456432"/>
            <a:ext cx="1143000" cy="283464"/>
          </a:xfrm>
          <a:prstGeom prst="roundRect">
            <a:avLst/>
          </a:prstGeom>
          <a:solidFill>
            <a:srgbClr val="1831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3716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local prompt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971800" y="3977639"/>
            <a:ext cx="19659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9D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91440" bIns="73152"/>
          <a:lstStyle/>
          <a:p>
            <a:pPr algn="ctr">
              <a:spcAft>
                <a:spcPts val="700"/>
              </a:spcAft>
            </a:pPr>
            <a:r>
              <a:rPr sz="1800" b="1">
                <a:solidFill>
                  <a:srgbClr val="477256"/>
                </a:solidFill>
                <a:latin typeface="Aptos Display"/>
              </a:rPr>
              <a:t>Tesseract OCR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18312C"/>
                </a:solidFill>
                <a:latin typeface="Aptos"/>
              </a:rPr>
              <a:t>optional image text</a:t>
            </a:r>
            <a:br/>
            <a:r>
              <a:rPr sz="1000">
                <a:solidFill>
                  <a:srgbClr val="18312C"/>
                </a:solidFill>
                <a:latin typeface="Aptos"/>
              </a:rPr>
              <a:t>eng · fra · ara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4251960" y="3227832"/>
            <a:ext cx="0" cy="704088"/>
          </a:xfrm>
          <a:prstGeom prst="line">
            <a:avLst/>
          </a:prstGeom>
          <a:ln w="27940">
            <a:solidFill>
              <a:srgbClr val="4772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4937760" y="3200400"/>
            <a:ext cx="914400" cy="914400"/>
          </a:xfrm>
          <a:prstGeom prst="line">
            <a:avLst/>
          </a:prstGeom>
          <a:ln w="27940">
            <a:solidFill>
              <a:srgbClr val="4772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3794760" y="3456432"/>
            <a:ext cx="868680" cy="283464"/>
          </a:xfrm>
          <a:prstGeom prst="roundRect">
            <a:avLst/>
          </a:prstGeom>
          <a:solidFill>
            <a:srgbClr val="1831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3716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photo upload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166360" y="3584448"/>
            <a:ext cx="1005840" cy="283464"/>
          </a:xfrm>
          <a:prstGeom prst="roundRect">
            <a:avLst/>
          </a:prstGeom>
          <a:solidFill>
            <a:srgbClr val="4772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3716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OCR text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4672" y="5376672"/>
            <a:ext cx="1037844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spcAft>
                <a:spcPts val="700"/>
              </a:spcAft>
            </a:pPr>
            <a:r>
              <a:rPr sz="1100" b="1">
                <a:solidFill>
                  <a:srgbClr val="477256"/>
                </a:solidFill>
                <a:latin typeface="Aptos"/>
              </a:rPr>
              <a:t>Browser → validated API → local interpretation and retrieval → candidate records → user confirms → editable message to copy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5925312"/>
            <a:ext cx="1069848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spcAft>
                <a:spcPts val="700"/>
              </a:spcAft>
            </a:pPr>
            <a:r>
              <a:rPr sz="1200" b="0">
                <a:solidFill>
                  <a:srgbClr val="64726D"/>
                </a:solidFill>
                <a:latin typeface="Aptos"/>
              </a:rPr>
              <a:t>No cloud LLM · no external pharmacy directory · no live inventory · no automatic sending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1106424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700"/>
              </a:spcAft>
            </a:pPr>
            <a:r>
              <a:rPr sz="2500" b="1">
                <a:solidFill>
                  <a:srgbClr val="18312C"/>
                </a:solidFill>
                <a:latin typeface="Aptos Display"/>
              </a:rPr>
              <a:t>The model interprets intent; the catalogue supplies facts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97280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700"/>
              </a:spcAft>
            </a:pPr>
            <a:r>
              <a:rPr sz="900" b="1">
                <a:solidFill>
                  <a:srgbClr val="477256"/>
                </a:solidFill>
                <a:latin typeface="Aptos"/>
              </a:rPr>
              <a:t>TRUST BOUNDARY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D9D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6565392"/>
            <a:ext cx="1033272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4726D"/>
                </a:solidFill>
                <a:latin typeface="Aptos"/>
              </a:rPr>
              <a:t>DawaLink · local-only core · technical implementation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47104"/>
            <a:ext cx="54864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spcAft>
                <a:spcPts val="700"/>
              </a:spcAft>
            </a:pPr>
            <a:r>
              <a:rPr sz="800" b="0">
                <a:solidFill>
                  <a:srgbClr val="64726D"/>
                </a:solidFill>
                <a:latin typeface="Aptos"/>
              </a:rP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324612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9D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91440" bIns="73152"/>
          <a:lstStyle/>
          <a:p>
            <a:pPr algn="ctr">
              <a:spcAft>
                <a:spcPts val="700"/>
              </a:spcAft>
            </a:pPr>
            <a:r>
              <a:rPr sz="1800" b="1">
                <a:solidFill>
                  <a:srgbClr val="477256"/>
                </a:solidFill>
                <a:latin typeface="Aptos Display"/>
              </a:rPr>
              <a:t>User’s words</a:t>
            </a:r>
          </a:p>
          <a:p>
            <a:pPr>
              <a:spcAft>
                <a:spcPts val="0"/>
              </a:spcAft>
            </a:pPr>
            <a:r>
              <a:rPr sz="2000">
                <a:solidFill>
                  <a:srgbClr val="18312C"/>
                </a:solidFill>
                <a:latin typeface="Aptos"/>
              </a:rPr>
              <a:t>“3afak wach kayn</a:t>
            </a:r>
            <a:br/>
            <a:r>
              <a:rPr sz="2000">
                <a:solidFill>
                  <a:srgbClr val="18312C"/>
                </a:solidFill>
                <a:latin typeface="Aptos"/>
              </a:rPr>
              <a:t>Doliprane 1g</a:t>
            </a:r>
            <a:br/>
            <a:r>
              <a:rPr sz="2000">
                <a:solidFill>
                  <a:srgbClr val="18312C"/>
                </a:solidFill>
                <a:latin typeface="Aptos"/>
              </a:rPr>
              <a:t>f Rabat?”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371600"/>
            <a:ext cx="3246120" cy="3108960"/>
          </a:xfrm>
          <a:prstGeom prst="roundRect">
            <a:avLst/>
          </a:prstGeom>
          <a:solidFill>
            <a:srgbClr val="EFF4E9"/>
          </a:solidFill>
          <a:ln>
            <a:solidFill>
              <a:srgbClr val="D9D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91440" bIns="73152"/>
          <a:lstStyle/>
          <a:p>
            <a:pPr algn="ctr">
              <a:spcAft>
                <a:spcPts val="700"/>
              </a:spcAft>
            </a:pPr>
            <a:r>
              <a:rPr sz="1800" b="1">
                <a:solidFill>
                  <a:srgbClr val="477256"/>
                </a:solidFill>
                <a:latin typeface="Aptos Display"/>
              </a:rPr>
              <a:t>Qwen3 structured parse</a:t>
            </a:r>
          </a:p>
          <a:p>
            <a:pPr>
              <a:spcAft>
                <a:spcPts val="0"/>
              </a:spcAft>
            </a:pPr>
            <a:r>
              <a:rPr sz="1500">
                <a:solidFill>
                  <a:srgbClr val="18312C"/>
                </a:solidFill>
                <a:latin typeface="Aptos"/>
              </a:rPr>
              <a:t>intent: availability</a:t>
            </a:r>
            <a:br/>
            <a:r>
              <a:rPr sz="1500">
                <a:solidFill>
                  <a:srgbClr val="18312C"/>
                </a:solidFill>
                <a:latin typeface="Aptos"/>
              </a:rPr>
              <a:t>medicine: Doliprane</a:t>
            </a:r>
            <a:br/>
            <a:r>
              <a:rPr sz="1500">
                <a:solidFill>
                  <a:srgbClr val="18312C"/>
                </a:solidFill>
                <a:latin typeface="Aptos"/>
              </a:rPr>
              <a:t>strength: 1 G</a:t>
            </a:r>
            <a:br/>
            <a:r>
              <a:rPr sz="1500">
                <a:solidFill>
                  <a:srgbClr val="18312C"/>
                </a:solidFill>
                <a:latin typeface="Aptos"/>
              </a:rPr>
              <a:t>city: Rabat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1371600"/>
            <a:ext cx="3246120" cy="3108960"/>
          </a:xfrm>
          <a:prstGeom prst="roundRect">
            <a:avLst/>
          </a:prstGeom>
          <a:solidFill>
            <a:srgbClr val="D9F36D"/>
          </a:solidFill>
          <a:ln>
            <a:solidFill>
              <a:srgbClr val="D9D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91440" bIns="73152"/>
          <a:lstStyle/>
          <a:p>
            <a:pPr algn="ctr">
              <a:spcAft>
                <a:spcPts val="700"/>
              </a:spcAft>
            </a:pPr>
            <a:r>
              <a:rPr sz="1800" b="1">
                <a:solidFill>
                  <a:srgbClr val="18312C"/>
                </a:solidFill>
                <a:latin typeface="Aptos Display"/>
              </a:rPr>
              <a:t>SQLite candidates</a:t>
            </a:r>
          </a:p>
          <a:p>
            <a:pPr>
              <a:spcAft>
                <a:spcPts val="0"/>
              </a:spcAft>
            </a:pPr>
            <a:r>
              <a:rPr sz="1500">
                <a:solidFill>
                  <a:srgbClr val="18312C"/>
                </a:solidFill>
                <a:latin typeface="Aptos"/>
              </a:rPr>
              <a:t>3 catalogue records</a:t>
            </a:r>
            <a:br/>
            <a:r>
              <a:rPr sz="1500">
                <a:solidFill>
                  <a:srgbClr val="18312C"/>
                </a:solidFill>
                <a:latin typeface="Aptos"/>
              </a:rPr>
              <a:t>all 1 G</a:t>
            </a:r>
            <a:br/>
            <a:r>
              <a:rPr sz="1500">
                <a:solidFill>
                  <a:srgbClr val="18312C"/>
                </a:solidFill>
                <a:latin typeface="Aptos"/>
              </a:rPr>
              <a:t>ID 563 selected</a:t>
            </a:r>
            <a:br/>
            <a:r>
              <a:rPr sz="1500">
                <a:solidFill>
                  <a:srgbClr val="18312C"/>
                </a:solidFill>
                <a:latin typeface="Aptos"/>
              </a:rPr>
              <a:t>BOITE DE 8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977639" y="2926080"/>
            <a:ext cx="457201" cy="0"/>
          </a:xfrm>
          <a:prstGeom prst="line">
            <a:avLst/>
          </a:prstGeom>
          <a:ln w="27940">
            <a:solidFill>
              <a:srgbClr val="4772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726679" y="2926080"/>
            <a:ext cx="457200" cy="0"/>
          </a:xfrm>
          <a:prstGeom prst="line">
            <a:avLst/>
          </a:prstGeom>
          <a:ln w="27940">
            <a:solidFill>
              <a:srgbClr val="4772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22960" y="4983480"/>
            <a:ext cx="10515600" cy="5943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0">
                <a:solidFill>
                  <a:srgbClr val="18312C"/>
                </a:solidFill>
                <a:latin typeface="Aptos"/>
              </a:rPr>
              <a:t>The model is a language interface—not a medicine database. Search results are grounded, strength conflicts are filtered, and the customer confirms the exact pack.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1106424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700"/>
              </a:spcAft>
            </a:pPr>
            <a:r>
              <a:rPr sz="2500" b="1">
                <a:solidFill>
                  <a:srgbClr val="18312C"/>
                </a:solidFill>
                <a:latin typeface="Aptos Display"/>
              </a:rPr>
              <a:t>Real catalogue data, with its gaps kept visible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97280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700"/>
              </a:spcAft>
            </a:pPr>
            <a:r>
              <a:rPr sz="900" b="1">
                <a:solidFill>
                  <a:srgbClr val="477256"/>
                </a:solidFill>
                <a:latin typeface="Aptos"/>
              </a:rPr>
              <a:t>DATA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D9D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6565392"/>
            <a:ext cx="1033272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4726D"/>
                </a:solidFill>
                <a:latin typeface="Aptos"/>
              </a:rPr>
              <a:t>DawaLink · local-only core · technical implementation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47104"/>
            <a:ext cx="54864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spcAft>
                <a:spcPts val="700"/>
              </a:spcAft>
            </a:pPr>
            <a:r>
              <a:rPr sz="800" b="0">
                <a:solidFill>
                  <a:srgbClr val="64726D"/>
                </a:solidFill>
                <a:latin typeface="Aptos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34440"/>
            <a:ext cx="3063240" cy="21488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700"/>
              </a:spcAft>
            </a:pPr>
            <a:r>
              <a:rPr sz="2000" b="1">
                <a:solidFill>
                  <a:srgbClr val="18312C"/>
                </a:solidFill>
                <a:latin typeface="Aptos"/>
              </a:rPr>
              <a:t>9,908 source rows</a:t>
            </a:r>
          </a:p>
          <a:p>
            <a:pPr algn="l">
              <a:spcAft>
                <a:spcPts val="700"/>
              </a:spcAft>
            </a:pPr>
            <a:r>
              <a:rPr sz="2000" b="1">
                <a:solidFill>
                  <a:srgbClr val="18312C"/>
                </a:solidFill>
                <a:latin typeface="Aptos"/>
              </a:rPr>
              <a:t>10 original columns</a:t>
            </a:r>
          </a:p>
          <a:p>
            <a:pPr algn="l">
              <a:spcAft>
                <a:spcPts val="700"/>
              </a:spcAft>
            </a:pPr>
            <a:r>
              <a:rPr sz="2000" b="1">
                <a:solidFill>
                  <a:srgbClr val="18312C"/>
                </a:solidFill>
                <a:latin typeface="Aptos"/>
              </a:rPr>
              <a:t>0 duplicate IDs</a:t>
            </a:r>
          </a:p>
          <a:p>
            <a:pPr algn="l">
              <a:spcAft>
                <a:spcPts val="700"/>
              </a:spcAft>
            </a:pPr>
            <a:r>
              <a:rPr sz="2000" b="1">
                <a:solidFill>
                  <a:srgbClr val="18312C"/>
                </a:solidFill>
                <a:latin typeface="Aptos"/>
              </a:rPr>
              <a:t>4,070 brand strings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1234440"/>
            <a:ext cx="722376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477256"/>
                </a:solidFill>
                <a:latin typeface="Aptos"/>
              </a:rPr>
              <a:t>Missing or unavailable values in supplied export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1874519"/>
            <a:ext cx="114300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8312C"/>
                </a:solidFill>
                <a:latin typeface="Aptos"/>
              </a:rPr>
              <a:t>EPI</a:t>
            </a:r>
          </a:p>
        </p:txBody>
      </p:sp>
      <p:sp>
        <p:nvSpPr>
          <p:cNvPr id="10" name="Rectangle 9"/>
          <p:cNvSpPr/>
          <p:nvPr/>
        </p:nvSpPr>
        <p:spPr>
          <a:xfrm>
            <a:off x="5257800" y="1901951"/>
            <a:ext cx="4617720" cy="182880"/>
          </a:xfrm>
          <a:prstGeom prst="rect">
            <a:avLst/>
          </a:prstGeom>
          <a:solidFill>
            <a:srgbClr val="4772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12680" y="1847088"/>
            <a:ext cx="123444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>
                <a:solidFill>
                  <a:srgbClr val="64726D"/>
                </a:solidFill>
                <a:latin typeface="Aptos"/>
              </a:rPr>
              <a:t>9,908 · 100%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2514600"/>
            <a:ext cx="114300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8312C"/>
                </a:solidFill>
                <a:latin typeface="Aptos"/>
              </a:rPr>
              <a:t>Status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257800" y="2542032"/>
            <a:ext cx="843568" cy="182880"/>
          </a:xfrm>
          <a:prstGeom prst="rect">
            <a:avLst/>
          </a:prstGeom>
          <a:solidFill>
            <a:srgbClr val="4772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12680" y="2487168"/>
            <a:ext cx="123444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>
                <a:solidFill>
                  <a:srgbClr val="64726D"/>
                </a:solidFill>
                <a:latin typeface="Aptos"/>
              </a:rPr>
              <a:t>1,810 · 18%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40" y="3154679"/>
            <a:ext cx="114300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8312C"/>
                </a:solidFill>
                <a:latin typeface="Aptos"/>
              </a:rPr>
              <a:t>PPV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257800" y="3182111"/>
            <a:ext cx="511733" cy="182880"/>
          </a:xfrm>
          <a:prstGeom prst="rect">
            <a:avLst/>
          </a:prstGeom>
          <a:solidFill>
            <a:srgbClr val="4772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12680" y="3127248"/>
            <a:ext cx="123444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>
                <a:solidFill>
                  <a:srgbClr val="64726D"/>
                </a:solidFill>
                <a:latin typeface="Aptos"/>
              </a:rPr>
              <a:t>1,098 · 11%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06240" y="3794759"/>
            <a:ext cx="114300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8312C"/>
                </a:solidFill>
                <a:latin typeface="Aptos"/>
              </a:rPr>
              <a:t>PH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257800" y="3822191"/>
            <a:ext cx="511733" cy="182880"/>
          </a:xfrm>
          <a:prstGeom prst="rect">
            <a:avLst/>
          </a:prstGeom>
          <a:solidFill>
            <a:srgbClr val="4772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12680" y="3767327"/>
            <a:ext cx="123444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>
                <a:solidFill>
                  <a:srgbClr val="64726D"/>
                </a:solidFill>
                <a:latin typeface="Aptos"/>
              </a:rPr>
              <a:t>1,098 · 11%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749039" y="4224528"/>
            <a:ext cx="182880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9D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91440" bIns="73152"/>
          <a:lstStyle/>
          <a:p>
            <a:pPr algn="ctr">
              <a:spcAft>
                <a:spcPts val="700"/>
              </a:spcAft>
            </a:pPr>
            <a:r>
              <a:rPr sz="1800" b="1">
                <a:solidFill>
                  <a:srgbClr val="477256"/>
                </a:solidFill>
                <a:latin typeface="Aptos Display"/>
              </a:rPr>
              <a:t>Source CSV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18312C"/>
                </a:solidFill>
                <a:latin typeface="Aptos"/>
              </a:rPr>
              <a:t>9,908 rows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897880" y="4224528"/>
            <a:ext cx="2423160" cy="749808"/>
          </a:xfrm>
          <a:prstGeom prst="roundRect">
            <a:avLst/>
          </a:prstGeom>
          <a:solidFill>
            <a:srgbClr val="EFF4E9"/>
          </a:solidFill>
          <a:ln>
            <a:solidFill>
              <a:srgbClr val="D9D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91440" bIns="73152"/>
          <a:lstStyle/>
          <a:p>
            <a:pPr algn="ctr">
              <a:spcAft>
                <a:spcPts val="700"/>
              </a:spcAft>
            </a:pPr>
            <a:r>
              <a:rPr sz="1800" b="1">
                <a:solidFill>
                  <a:srgbClr val="477256"/>
                </a:solidFill>
                <a:latin typeface="Aptos Display"/>
              </a:rPr>
              <a:t>ingest_data.py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18312C"/>
                </a:solidFill>
                <a:latin typeface="Aptos"/>
              </a:rPr>
              <a:t>normalize + validate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641080" y="4224528"/>
            <a:ext cx="233172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9D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91440" bIns="73152"/>
          <a:lstStyle/>
          <a:p>
            <a:pPr algn="ctr">
              <a:spcAft>
                <a:spcPts val="700"/>
              </a:spcAft>
            </a:pPr>
            <a:r>
              <a:rPr sz="1800" b="1">
                <a:solidFill>
                  <a:srgbClr val="477256"/>
                </a:solidFill>
                <a:latin typeface="Aptos Display"/>
              </a:rPr>
              <a:t>SQLite · FTS5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18312C"/>
                </a:solidFill>
                <a:latin typeface="Aptos"/>
              </a:rPr>
              <a:t>atomic rebuild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596128" y="4599432"/>
            <a:ext cx="256032" cy="0"/>
          </a:xfrm>
          <a:prstGeom prst="line">
            <a:avLst/>
          </a:prstGeom>
          <a:ln w="27940">
            <a:solidFill>
              <a:srgbClr val="4772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8339327" y="4599432"/>
            <a:ext cx="256033" cy="0"/>
          </a:xfrm>
          <a:prstGeom prst="line">
            <a:avLst/>
          </a:prstGeom>
          <a:ln w="27940">
            <a:solidFill>
              <a:srgbClr val="4772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777240" y="5074920"/>
            <a:ext cx="1060704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9D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91440" bIns="73152"/>
          <a:lstStyle/>
          <a:p>
            <a:pPr algn="ctr">
              <a:spcAft>
                <a:spcPts val="700"/>
              </a:spcAft>
            </a:pPr>
            <a:r>
              <a:rPr sz="1800" b="1">
                <a:solidFill>
                  <a:srgbClr val="477256"/>
                </a:solidFill>
                <a:latin typeface="Aptos Display"/>
              </a:rPr>
              <a:t>Provenance matters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18312C"/>
                </a:solidFill>
                <a:latin typeface="Aptos"/>
              </a:rPr>
              <a:t>Repository export date is unknown. Values are preserved as supplied; historical price fields are not live pharmacy prices. No missing manufacturer, stock or status facts are filled in.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1106424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700"/>
              </a:spcAft>
            </a:pPr>
            <a:r>
              <a:rPr sz="2500" b="1">
                <a:solidFill>
                  <a:srgbClr val="18312C"/>
                </a:solidFill>
                <a:latin typeface="Aptos Display"/>
              </a:rPr>
              <a:t>Search narrows the choice; the customer makes 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97280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700"/>
              </a:spcAft>
            </a:pPr>
            <a:r>
              <a:rPr sz="900" b="1">
                <a:solidFill>
                  <a:srgbClr val="477256"/>
                </a:solidFill>
                <a:latin typeface="Aptos"/>
              </a:rPr>
              <a:t>CATALOGUE RETRIEVAL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D9D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6565392"/>
            <a:ext cx="1033272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4726D"/>
                </a:solidFill>
                <a:latin typeface="Aptos"/>
              </a:rPr>
              <a:t>DawaLink · local-only core · technical implementation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47104"/>
            <a:ext cx="54864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spcAft>
                <a:spcPts val="700"/>
              </a:spcAft>
            </a:pPr>
            <a:r>
              <a:rPr sz="800" b="0">
                <a:solidFill>
                  <a:srgbClr val="64726D"/>
                </a:solidFill>
                <a:latin typeface="Aptos"/>
              </a:rPr>
              <a:t>07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77240" y="1417320"/>
          <a:ext cx="1060704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3474720"/>
                <a:gridCol w="4297680"/>
              </a:tblGrid>
              <a:tr h="64008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ptos"/>
                        </a:rPr>
                        <a:t>Query</a:t>
                      </a:r>
                    </a:p>
                  </a:txBody>
                  <a:tcPr>
                    <a:solidFill>
                      <a:srgbClr val="1831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ptos"/>
                        </a:rPr>
                        <a:t>Observed result</a:t>
                      </a:r>
                    </a:p>
                  </a:txBody>
                  <a:tcPr>
                    <a:solidFill>
                      <a:srgbClr val="1831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ptos"/>
                        </a:rPr>
                        <a:t>What the system uses</a:t>
                      </a:r>
                    </a:p>
                  </a:txBody>
                  <a:tcPr>
                    <a:solidFill>
                      <a:srgbClr val="18312C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8312C"/>
                          </a:solidFill>
                          <a:latin typeface="Aptos"/>
                        </a:rPr>
                        <a:t>doliprene</a:t>
                      </a:r>
                    </a:p>
                  </a:txBody>
                  <a:tcPr>
                    <a:solidFill>
                      <a:srgbClr val="EFF4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8312C"/>
                          </a:solidFill>
                          <a:latin typeface="Aptos"/>
                        </a:rPr>
                        <a:t>DOLIPRANE · 1 G</a:t>
                      </a:r>
                    </a:p>
                  </a:txBody>
                  <a:tcPr>
                    <a:solidFill>
                      <a:srgbClr val="EFF4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8312C"/>
                          </a:solidFill>
                          <a:latin typeface="Aptos"/>
                        </a:rPr>
                        <a:t>normalized + fuzzy text</a:t>
                      </a:r>
                    </a:p>
                  </a:txBody>
                  <a:tcPr>
                    <a:solidFill>
                      <a:srgbClr val="EFF4E9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8312C"/>
                          </a:solidFill>
                          <a:latin typeface="Aptos"/>
                        </a:rPr>
                        <a:t>AMOXICILLINE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8312C"/>
                          </a:solidFill>
                          <a:latin typeface="Aptos"/>
                        </a:rPr>
                        <a:t>ALFAMOX · 1 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8312C"/>
                          </a:solidFill>
                          <a:latin typeface="Aptos"/>
                        </a:rPr>
                        <a:t>active ingredient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8312C"/>
                          </a:solidFill>
                          <a:latin typeface="Aptos"/>
                        </a:rPr>
                        <a:t>DOLIPRANE 500 MG</a:t>
                      </a:r>
                    </a:p>
                  </a:txBody>
                  <a:tcPr>
                    <a:solidFill>
                      <a:srgbClr val="EFF4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8312C"/>
                          </a:solidFill>
                          <a:latin typeface="Aptos"/>
                        </a:rPr>
                        <a:t>DOLIPRANE · 500 MG</a:t>
                      </a:r>
                    </a:p>
                  </a:txBody>
                  <a:tcPr>
                    <a:solidFill>
                      <a:srgbClr val="EFF4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8312C"/>
                          </a:solidFill>
                          <a:latin typeface="Aptos"/>
                        </a:rPr>
                        <a:t>strength agreement</a:t>
                      </a:r>
                    </a:p>
                  </a:txBody>
                  <a:tcPr>
                    <a:solidFill>
                      <a:srgbClr val="EFF4E9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8312C"/>
                          </a:solidFill>
                          <a:latin typeface="Aptos"/>
                        </a:rPr>
                        <a:t>DIACURE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8312C"/>
                          </a:solidFill>
                          <a:latin typeface="Aptos"/>
                        </a:rPr>
                        <a:t>no result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8312C"/>
                          </a:solidFill>
                          <a:latin typeface="Aptos"/>
                        </a:rPr>
                        <a:t>weak lookalike suppressed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22960" y="5010912"/>
            <a:ext cx="10515600" cy="6858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64726D"/>
                </a:solidFill>
                <a:latin typeface="Aptos"/>
              </a:rPr>
              <a:t>Search scores are matching signals, not calibrated probabilities. Similar products remain separate choices; strength and form must be checked.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1106424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700"/>
              </a:spcAft>
            </a:pPr>
            <a:r>
              <a:rPr sz="2500" b="1">
                <a:solidFill>
                  <a:srgbClr val="18312C"/>
                </a:solidFill>
                <a:latin typeface="Aptos Display"/>
              </a:rPr>
              <a:t>Photo identification is an optional local path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97280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700"/>
              </a:spcAft>
            </a:pPr>
            <a:r>
              <a:rPr sz="900" b="1">
                <a:solidFill>
                  <a:srgbClr val="477256"/>
                </a:solidFill>
                <a:latin typeface="Aptos"/>
              </a:rPr>
              <a:t>IMAGE PROCESSING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D9D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6565392"/>
            <a:ext cx="1033272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4726D"/>
                </a:solidFill>
                <a:latin typeface="Aptos"/>
              </a:rPr>
              <a:t>DawaLink · local-only core · technical implementation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47104"/>
            <a:ext cx="54864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spcAft>
                <a:spcPts val="700"/>
              </a:spcAft>
            </a:pPr>
            <a:r>
              <a:rPr sz="800" b="0">
                <a:solidFill>
                  <a:srgbClr val="64726D"/>
                </a:solidFill>
                <a:latin typeface="Aptos"/>
              </a:rPr>
              <a:t>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25880"/>
            <a:ext cx="4937760" cy="43891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18312C"/>
                </a:solidFill>
                <a:latin typeface="Aptos"/>
              </a:rPr>
              <a:t>1 · Validate file type and size</a:t>
            </a:r>
          </a:p>
          <a:p>
            <a:pPr algn="l">
              <a:spcAft>
                <a:spcPts val="700"/>
              </a:spcAft>
            </a:pPr>
          </a:p>
          <a:p>
            <a:pPr algn="l">
              <a:spcAft>
                <a:spcPts val="700"/>
              </a:spcAft>
            </a:pPr>
            <a:r>
              <a:rPr sz="1600" b="0">
                <a:solidFill>
                  <a:srgbClr val="18312C"/>
                </a:solidFill>
                <a:latin typeface="Aptos"/>
              </a:rPr>
              <a:t>2 · Preprocess locally</a:t>
            </a:r>
          </a:p>
          <a:p>
            <a:pPr algn="l">
              <a:spcAft>
                <a:spcPts val="700"/>
              </a:spcAft>
            </a:pPr>
          </a:p>
          <a:p>
            <a:pPr algn="l">
              <a:spcAft>
                <a:spcPts val="700"/>
              </a:spcAft>
            </a:pPr>
            <a:r>
              <a:rPr sz="1600" b="0">
                <a:solidFill>
                  <a:srgbClr val="18312C"/>
                </a:solidFill>
                <a:latin typeface="Aptos"/>
              </a:rPr>
              <a:t>3 · Tesseract reads visible text</a:t>
            </a:r>
          </a:p>
          <a:p>
            <a:pPr algn="l">
              <a:spcAft>
                <a:spcPts val="700"/>
              </a:spcAft>
            </a:pPr>
          </a:p>
          <a:p>
            <a:pPr algn="l">
              <a:spcAft>
                <a:spcPts val="700"/>
              </a:spcAft>
            </a:pPr>
            <a:r>
              <a:rPr sz="1600" b="0">
                <a:solidFill>
                  <a:srgbClr val="18312C"/>
                </a:solidFill>
                <a:latin typeface="Aptos"/>
              </a:rPr>
              <a:t>4 · Search the same SQLite catalogue</a:t>
            </a:r>
          </a:p>
          <a:p>
            <a:pPr algn="l">
              <a:spcAft>
                <a:spcPts val="700"/>
              </a:spcAft>
            </a:pPr>
          </a:p>
          <a:p>
            <a:pPr algn="l">
              <a:spcAft>
                <a:spcPts val="700"/>
              </a:spcAft>
            </a:pPr>
            <a:r>
              <a:rPr sz="1600" b="0">
                <a:solidFill>
                  <a:srgbClr val="18312C"/>
                </a:solidFill>
                <a:latin typeface="Aptos"/>
              </a:rPr>
              <a:t>5 · Customer reviews any candidate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80760" y="1325880"/>
            <a:ext cx="5074920" cy="4160520"/>
          </a:xfrm>
          <a:prstGeom prst="roundRect">
            <a:avLst/>
          </a:prstGeom>
          <a:solidFill>
            <a:srgbClr val="EFF4E9"/>
          </a:solidFill>
          <a:ln>
            <a:solidFill>
              <a:srgbClr val="D9D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91440" bIns="73152"/>
          <a:lstStyle/>
          <a:p>
            <a:pPr algn="ctr">
              <a:spcAft>
                <a:spcPts val="700"/>
              </a:spcAft>
            </a:pPr>
            <a:r>
              <a:rPr sz="1800" b="1">
                <a:solidFill>
                  <a:srgbClr val="477256"/>
                </a:solidFill>
                <a:latin typeface="Aptos Display"/>
              </a:rPr>
              <a:t>Evidence: one real photo spot check</a:t>
            </a:r>
          </a:p>
          <a:p>
            <a:pPr>
              <a:spcAft>
                <a:spcPts val="0"/>
              </a:spcAft>
            </a:pPr>
            <a:r>
              <a:rPr sz="1500">
                <a:solidFill>
                  <a:srgbClr val="18312C"/>
                </a:solidFill>
                <a:latin typeface="Aptos"/>
              </a:rPr>
              <a:t>MIT test image showed a foreign-market DiaCURE pack. OCR read ENFANTS / CHILDREN and missed the brand; catalogue result was safely empty.</a:t>
            </a:r>
            <a:br/>
            <a:br/>
            <a:r>
              <a:rPr sz="1500">
                <a:solidFill>
                  <a:srgbClr val="18312C"/>
                </a:solidFill>
                <a:latin typeface="Aptos"/>
              </a:rPr>
              <a:t>This is a documented failure case—not a performance claim. A Moroccan product photo benchmark is still needed.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1106424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700"/>
              </a:spcAft>
            </a:pPr>
            <a:r>
              <a:rPr sz="2500" b="1">
                <a:solidFill>
                  <a:srgbClr val="18312C"/>
                </a:solidFill>
                <a:latin typeface="Aptos Display"/>
              </a:rPr>
              <a:t>Small API, clear responsibilities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97280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700"/>
              </a:spcAft>
            </a:pPr>
            <a:r>
              <a:rPr sz="900" b="1">
                <a:solidFill>
                  <a:srgbClr val="477256"/>
                </a:solidFill>
                <a:latin typeface="Aptos"/>
              </a:rPr>
              <a:t>IMPLEMENTATION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D9D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6565392"/>
            <a:ext cx="1033272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4726D"/>
                </a:solidFill>
                <a:latin typeface="Aptos"/>
              </a:rPr>
              <a:t>DawaLink · local-only core · technical implementation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47104"/>
            <a:ext cx="54864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spcAft>
                <a:spcPts val="700"/>
              </a:spcAft>
            </a:pPr>
            <a:r>
              <a:rPr sz="800" b="0">
                <a:solidFill>
                  <a:srgbClr val="64726D"/>
                </a:solidFill>
                <a:latin typeface="Aptos"/>
              </a:rP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280160"/>
            <a:ext cx="498348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9D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91440" bIns="73152"/>
          <a:lstStyle/>
          <a:p>
            <a:pPr algn="ctr">
              <a:spcAft>
                <a:spcPts val="700"/>
              </a:spcAft>
            </a:pPr>
            <a:r>
              <a:rPr sz="1800" b="1">
                <a:solidFill>
                  <a:srgbClr val="477256"/>
                </a:solidFill>
                <a:latin typeface="Aptos Display"/>
              </a:rPr>
              <a:t>Browser ↔ Python WSGI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18312C"/>
                </a:solidFill>
                <a:latin typeface="Aptos"/>
              </a:rPr>
              <a:t>GET  /api/health</a:t>
            </a:r>
            <a:br/>
            <a:r>
              <a:rPr sz="1300">
                <a:solidFill>
                  <a:srgbClr val="18312C"/>
                </a:solidFill>
                <a:latin typeface="Aptos"/>
              </a:rPr>
              <a:t>GET  /api/medications?q=…</a:t>
            </a:r>
            <a:br/>
            <a:r>
              <a:rPr sz="1300">
                <a:solidFill>
                  <a:srgbClr val="18312C"/>
                </a:solidFill>
                <a:latin typeface="Aptos"/>
              </a:rPr>
              <a:t>GET  /api/medications/{id}</a:t>
            </a:r>
            <a:br/>
            <a:r>
              <a:rPr sz="1300">
                <a:solidFill>
                  <a:srgbClr val="18312C"/>
                </a:solidFill>
                <a:latin typeface="Aptos"/>
              </a:rPr>
              <a:t>POST /api/assistant/message</a:t>
            </a:r>
            <a:br/>
            <a:r>
              <a:rPr sz="1300">
                <a:solidFill>
                  <a:srgbClr val="18312C"/>
                </a:solidFill>
                <a:latin typeface="Aptos"/>
              </a:rPr>
              <a:t>GET  /api/assistant/status</a:t>
            </a:r>
            <a:br/>
            <a:r>
              <a:rPr sz="1300">
                <a:solidFill>
                  <a:srgbClr val="18312C"/>
                </a:solidFill>
                <a:latin typeface="Aptos"/>
              </a:rPr>
              <a:t>POST /api/recognize</a:t>
            </a:r>
            <a:br/>
            <a:r>
              <a:rPr sz="1300">
                <a:solidFill>
                  <a:srgbClr val="18312C"/>
                </a:solidFill>
                <a:latin typeface="Aptos"/>
              </a:rPr>
              <a:t>POST /api/pharmacy-request</a:t>
            </a:r>
            <a:br/>
            <a:r>
              <a:rPr sz="1300">
                <a:solidFill>
                  <a:srgbClr val="18312C"/>
                </a:solidFill>
                <a:latin typeface="Aptos"/>
              </a:rPr>
              <a:t>GET  /api/export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1280160"/>
            <a:ext cx="4937760" cy="2011680"/>
          </a:xfrm>
          <a:prstGeom prst="roundRect">
            <a:avLst/>
          </a:prstGeom>
          <a:solidFill>
            <a:srgbClr val="EFF4E9"/>
          </a:solidFill>
          <a:ln>
            <a:solidFill>
              <a:srgbClr val="D9D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91440" bIns="73152"/>
          <a:lstStyle/>
          <a:p>
            <a:pPr algn="ctr">
              <a:spcAft>
                <a:spcPts val="700"/>
              </a:spcAft>
            </a:pPr>
            <a:r>
              <a:rPr sz="1800" b="1">
                <a:solidFill>
                  <a:srgbClr val="477256"/>
                </a:solidFill>
                <a:latin typeface="Aptos Display"/>
              </a:rPr>
              <a:t>SQLite storage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18312C"/>
                </a:solidFill>
                <a:latin typeface="Aptos"/>
              </a:rPr>
              <a:t>Original source columns + normalized search keys, source, import timestamp; indexed FTS5 product text.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3703320"/>
            <a:ext cx="4937760" cy="1874519"/>
          </a:xfrm>
          <a:prstGeom prst="roundRect">
            <a:avLst/>
          </a:prstGeom>
          <a:solidFill>
            <a:srgbClr val="D9F36D"/>
          </a:solidFill>
          <a:ln>
            <a:solidFill>
              <a:srgbClr val="D9D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91440" bIns="73152"/>
          <a:lstStyle/>
          <a:p>
            <a:pPr algn="ctr">
              <a:spcAft>
                <a:spcPts val="700"/>
              </a:spcAft>
            </a:pPr>
            <a:r>
              <a:rPr sz="1800" b="1">
                <a:solidFill>
                  <a:srgbClr val="18312C"/>
                </a:solidFill>
                <a:latin typeface="Aptos Display"/>
              </a:rPr>
              <a:t>Enquiry guard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18312C"/>
                </a:solidFill>
                <a:latin typeface="Aptos"/>
              </a:rPr>
              <a:t>Generation requires a valid catalogue ID. User reviews the product, quantity, city and wording, then copies the message.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1106424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700"/>
              </a:spcAft>
            </a:pPr>
            <a:r>
              <a:rPr sz="2500" b="1">
                <a:solidFill>
                  <a:srgbClr val="18312C"/>
                </a:solidFill>
                <a:latin typeface="Aptos Display"/>
              </a:rPr>
              <a:t>A clear enquiry the customer can review and copy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97280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700"/>
              </a:spcAft>
            </a:pPr>
            <a:r>
              <a:rPr sz="900" b="1">
                <a:solidFill>
                  <a:srgbClr val="477256"/>
                </a:solidFill>
                <a:latin typeface="Aptos"/>
              </a:rPr>
              <a:t>PRODUCT OUTCOME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D9D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6565392"/>
            <a:ext cx="1033272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4726D"/>
                </a:solidFill>
                <a:latin typeface="Aptos"/>
              </a:rPr>
              <a:t>DawaLink · local-only core · technical implementation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47104"/>
            <a:ext cx="54864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spcAft>
                <a:spcPts val="700"/>
              </a:spcAft>
            </a:pPr>
            <a:r>
              <a:rPr sz="800" b="0">
                <a:solidFill>
                  <a:srgbClr val="64726D"/>
                </a:solidFill>
                <a:latin typeface="Aptos"/>
              </a:rPr>
              <a:t>10</a:t>
            </a:r>
          </a:p>
        </p:txBody>
      </p:sp>
      <p:pic>
        <p:nvPicPr>
          <p:cNvPr id="7" name="Picture 6" descr="DawaLink_presentation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033271"/>
            <a:ext cx="7589520" cy="515454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7240" y="6236208"/>
            <a:ext cx="1060704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spcAft>
                <a:spcPts val="700"/>
              </a:spcAft>
            </a:pPr>
            <a:r>
              <a:rPr sz="1000" b="0">
                <a:solidFill>
                  <a:srgbClr val="64726D"/>
                </a:solidFill>
                <a:latin typeface="Aptos"/>
              </a:rPr>
              <a:t>Product ID 563 · DOLIPRANE 1 G · BOITE DE 8 · 1 boîte · Rabat · captured in the running app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1106424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700"/>
              </a:spcAft>
            </a:pPr>
            <a:r>
              <a:rPr sz="2500" b="1">
                <a:solidFill>
                  <a:srgbClr val="18312C"/>
                </a:solidFill>
                <a:latin typeface="Aptos Display"/>
              </a:rPr>
              <a:t>What has been verified—and what has not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97280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700"/>
              </a:spcAft>
            </a:pPr>
            <a:r>
              <a:rPr sz="900" b="1">
                <a:solidFill>
                  <a:srgbClr val="477256"/>
                </a:solidFill>
                <a:latin typeface="Aptos"/>
              </a:rPr>
              <a:t>EVALUATION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D9D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6565392"/>
            <a:ext cx="1033272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4726D"/>
                </a:solidFill>
                <a:latin typeface="Aptos"/>
              </a:rPr>
              <a:t>DawaLink · local-only core · technical implementation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47104"/>
            <a:ext cx="54864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spcAft>
                <a:spcPts val="700"/>
              </a:spcAft>
            </a:pPr>
            <a:r>
              <a:rPr sz="800" b="0">
                <a:solidFill>
                  <a:srgbClr val="64726D"/>
                </a:solidFill>
                <a:latin typeface="Aptos"/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25880"/>
            <a:ext cx="3246120" cy="1920240"/>
          </a:xfrm>
          <a:prstGeom prst="roundRect">
            <a:avLst/>
          </a:prstGeom>
          <a:solidFill>
            <a:srgbClr val="EFF4E9"/>
          </a:solidFill>
          <a:ln>
            <a:solidFill>
              <a:srgbClr val="D9D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91440" bIns="73152"/>
          <a:lstStyle/>
          <a:p>
            <a:pPr algn="ctr">
              <a:spcAft>
                <a:spcPts val="700"/>
              </a:spcAft>
            </a:pPr>
            <a:r>
              <a:rPr sz="1800" b="1">
                <a:solidFill>
                  <a:srgbClr val="477256"/>
                </a:solidFill>
                <a:latin typeface="Aptos Display"/>
              </a:rPr>
              <a:t>Core logic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18312C"/>
                </a:solidFill>
                <a:latin typeface="Aptos"/>
              </a:rPr>
              <a:t>18 earlier tests passed</a:t>
            </a:r>
            <a:br/>
            <a:r>
              <a:rPr sz="1400">
                <a:solidFill>
                  <a:srgbClr val="18312C"/>
                </a:solidFill>
                <a:latin typeface="Aptos"/>
              </a:rPr>
              <a:t>6/6 catalogue probes hit top 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325880"/>
            <a:ext cx="3246120" cy="1920240"/>
          </a:xfrm>
          <a:prstGeom prst="roundRect">
            <a:avLst/>
          </a:prstGeom>
          <a:solidFill>
            <a:srgbClr val="D9F36D"/>
          </a:solidFill>
          <a:ln>
            <a:solidFill>
              <a:srgbClr val="D9D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91440" bIns="73152"/>
          <a:lstStyle/>
          <a:p>
            <a:pPr algn="ctr">
              <a:spcAft>
                <a:spcPts val="700"/>
              </a:spcAft>
            </a:pPr>
            <a:r>
              <a:rPr sz="1800" b="1">
                <a:solidFill>
                  <a:srgbClr val="18312C"/>
                </a:solidFill>
                <a:latin typeface="Aptos Display"/>
              </a:rPr>
              <a:t>LLM flow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18312C"/>
                </a:solidFill>
                <a:latin typeface="Aptos"/>
              </a:rPr>
              <a:t>3 live smoke prompts</a:t>
            </a:r>
            <a:br/>
            <a:r>
              <a:rPr sz="1300">
                <a:solidFill>
                  <a:srgbClr val="18312C"/>
                </a:solidFill>
                <a:latin typeface="Aptos"/>
              </a:rPr>
              <a:t>Darija · Arabic · French</a:t>
            </a:r>
            <a:br/>
            <a:r>
              <a:rPr sz="1300">
                <a:solidFill>
                  <a:srgbClr val="18312C"/>
                </a:solidFill>
                <a:latin typeface="Aptos"/>
              </a:rPr>
              <a:t>No accuracy benchmark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1325880"/>
            <a:ext cx="324612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9D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91440" bIns="73152"/>
          <a:lstStyle/>
          <a:p>
            <a:pPr algn="ctr">
              <a:spcAft>
                <a:spcPts val="700"/>
              </a:spcAft>
            </a:pPr>
            <a:r>
              <a:rPr sz="1800" b="1">
                <a:solidFill>
                  <a:srgbClr val="477256"/>
                </a:solidFill>
                <a:latin typeface="Aptos Display"/>
              </a:rPr>
              <a:t>Photo evidence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18312C"/>
                </a:solidFill>
                <a:latin typeface="Aptos"/>
              </a:rPr>
              <a:t>1 foreign photo</a:t>
            </a:r>
            <a:br/>
            <a:r>
              <a:rPr sz="1300">
                <a:solidFill>
                  <a:srgbClr val="18312C"/>
                </a:solidFill>
                <a:latin typeface="Aptos"/>
              </a:rPr>
              <a:t>brand missed</a:t>
            </a:r>
            <a:br/>
            <a:r>
              <a:rPr sz="1300">
                <a:solidFill>
                  <a:srgbClr val="18312C"/>
                </a:solidFill>
                <a:latin typeface="Aptos"/>
              </a:rPr>
              <a:t>No Morocco benchmark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794760"/>
            <a:ext cx="10515600" cy="11887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spcAft>
                <a:spcPts val="700"/>
              </a:spcAft>
            </a:pPr>
            <a:r>
              <a:rPr sz="1600" b="0">
                <a:solidFill>
                  <a:srgbClr val="18312C"/>
                </a:solidFill>
                <a:latin typeface="Aptos"/>
              </a:rPr>
              <a:t>Scope today: conversational intent extraction, catalogue search, optional text OCR and message preparation. Not present: diagnosis, dosing advice, live prices, stock, pharmacy directory, voice, ordering or automatic messaging.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1106424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700"/>
              </a:spcAft>
            </a:pPr>
            <a:r>
              <a:rPr sz="2500" b="1">
                <a:solidFill>
                  <a:srgbClr val="18312C"/>
                </a:solidFill>
                <a:latin typeface="Aptos Display"/>
              </a:rPr>
              <a:t>Run the same local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97280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700"/>
              </a:spcAft>
            </a:pPr>
            <a:r>
              <a:rPr sz="900" b="1">
                <a:solidFill>
                  <a:srgbClr val="477256"/>
                </a:solidFill>
                <a:latin typeface="Aptos"/>
              </a:rPr>
              <a:t>REPRODUCIBILITY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D9D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6565392"/>
            <a:ext cx="1033272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4726D"/>
                </a:solidFill>
                <a:latin typeface="Aptos"/>
              </a:rPr>
              <a:t>DawaLink · local-only core · technical implementation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47104"/>
            <a:ext cx="54864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spcAft>
                <a:spcPts val="700"/>
              </a:spcAft>
            </a:pPr>
            <a:r>
              <a:rPr sz="800" b="0">
                <a:solidFill>
                  <a:srgbClr val="64726D"/>
                </a:solidFill>
                <a:latin typeface="Aptos"/>
              </a:rP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325880"/>
            <a:ext cx="4983480" cy="3063240"/>
          </a:xfrm>
          <a:prstGeom prst="roundRect">
            <a:avLst/>
          </a:prstGeom>
          <a:solidFill>
            <a:srgbClr val="EFF4E9"/>
          </a:solidFill>
          <a:ln>
            <a:solidFill>
              <a:srgbClr val="D9D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91440" bIns="73152"/>
          <a:lstStyle/>
          <a:p>
            <a:pPr algn="ctr">
              <a:spcAft>
                <a:spcPts val="700"/>
              </a:spcAft>
            </a:pPr>
            <a:r>
              <a:rPr sz="1800" b="1">
                <a:solidFill>
                  <a:srgbClr val="477256"/>
                </a:solidFill>
                <a:latin typeface="Aptos Display"/>
              </a:rPr>
              <a:t>1 · Load the model</a:t>
            </a:r>
          </a:p>
          <a:p>
            <a:pPr>
              <a:spcAft>
                <a:spcPts val="0"/>
              </a:spcAft>
            </a:pPr>
            <a:r>
              <a:rPr sz="1500">
                <a:solidFill>
                  <a:srgbClr val="18312C"/>
                </a:solidFill>
                <a:latin typeface="Aptos"/>
              </a:rPr>
              <a:t>ollama pull qwen3:1.7b</a:t>
            </a:r>
            <a:br/>
            <a:br/>
            <a:r>
              <a:rPr sz="1500">
                <a:solidFill>
                  <a:srgbClr val="18312C"/>
                </a:solidFill>
                <a:latin typeface="Aptos"/>
              </a:rPr>
              <a:t>Start Ollama if needed: ollama serve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1325880"/>
            <a:ext cx="4983480" cy="3063240"/>
          </a:xfrm>
          <a:prstGeom prst="roundRect">
            <a:avLst/>
          </a:prstGeom>
          <a:solidFill>
            <a:srgbClr val="FFFFFF"/>
          </a:solidFill>
          <a:ln>
            <a:solidFill>
              <a:srgbClr val="D9D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91440" bIns="73152"/>
          <a:lstStyle/>
          <a:p>
            <a:pPr algn="ctr">
              <a:spcAft>
                <a:spcPts val="700"/>
              </a:spcAft>
            </a:pPr>
            <a:r>
              <a:rPr sz="1800" b="1">
                <a:solidFill>
                  <a:srgbClr val="477256"/>
                </a:solidFill>
                <a:latin typeface="Aptos Display"/>
              </a:rPr>
              <a:t>2 · Prepare and launch</a:t>
            </a:r>
          </a:p>
          <a:p>
            <a:pPr>
              <a:spcAft>
                <a:spcPts val="0"/>
              </a:spcAft>
            </a:pPr>
            <a:r>
              <a:rPr sz="1500">
                <a:solidFill>
                  <a:srgbClr val="18312C"/>
                </a:solidFill>
                <a:latin typeface="Aptos"/>
              </a:rPr>
              <a:t>python3 scripts/ingest_data.py</a:t>
            </a:r>
            <a:br/>
            <a:r>
              <a:rPr sz="1500">
                <a:solidFill>
                  <a:srgbClr val="18312C"/>
                </a:solidFill>
                <a:latin typeface="Aptos"/>
              </a:rPr>
              <a:t>python3 app.py</a:t>
            </a:r>
            <a:br/>
            <a:br/>
            <a:r>
              <a:rPr sz="1500">
                <a:solidFill>
                  <a:srgbClr val="18312C"/>
                </a:solidFill>
                <a:latin typeface="Aptos"/>
              </a:rPr>
              <a:t>Open http://127.0.0.1:8000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892040"/>
            <a:ext cx="10515600" cy="7315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0">
                <a:solidFill>
                  <a:srgbClr val="64726D"/>
                </a:solidFill>
                <a:latin typeface="Aptos"/>
              </a:rPr>
              <a:t>Ollama serves Qwen3 1.7B on loopback. Tesseract 5 and language packs are optional for image OCR. Model weights are downloaded separately; no paid service is required.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DawaLink — Local Moroccan Medication Enquiry</dc:title>
  <dc:subject>User story, local system architecture, tool provenance and evidence</dc:subject>
  <dc:creator>DawaLink project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